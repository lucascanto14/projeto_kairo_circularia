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1200000">
            <a:off x="777240" y="777240"/>
            <a:ext cx="411480" cy="411480"/>
          </a:xfrm>
          <a:prstGeom prst="arc">
            <a:avLst/>
          </a:prstGeom>
          <a:noFill/>
          <a:ln w="17780">
            <a:solidFill>
              <a:srgbClr val="4CE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1060704" y="941832"/>
            <a:ext cx="109728" cy="109728"/>
          </a:xfrm>
          <a:prstGeom prst="chevron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758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CircularIA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62179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Plataforma inteligente de circularidade de baterias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41248" y="2057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F5"/>
                </a:solidFill>
              </a:rPr>
              <a:t>Conectar oferta e demanda • Otimizar destinos • Aprender com a rede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2606040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4CE4D6">
              <a:alpha val="14000"/>
            </a:srgbClr>
          </a:solidFill>
          <a:ln w="10160">
            <a:solidFill>
              <a:srgbClr val="4CE4D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0048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 Start 2026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395728" y="2606040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5AF5A3">
              <a:alpha val="14000"/>
            </a:srgbClr>
          </a:solidFill>
          <a:ln w="10160">
            <a:solidFill>
              <a:srgbClr val="5AF5A3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67004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AF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Economia Circular Inteligente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635240" y="35204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32C4C"/>
          </a:solidFill>
          <a:ln w="12700">
            <a:solidFill>
              <a:srgbClr val="4CE4D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E4D6"/>
                </a:solidFill>
              </a:rPr>
              <a:t>Conectar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F5A3"/>
                </a:solidFill>
              </a:rPr>
              <a:t>Otimizar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0" y="3730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5E"/>
                </a:solidFill>
              </a:rPr>
              <a:t>Aprender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452628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0223E"/>
          </a:solidFill>
          <a:ln w="12700">
            <a:solidFill>
              <a:srgbClr val="5AF5A3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47365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Próximo ciclo de valor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62672" y="55046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8FA7BC"/>
                </a:solidFill>
              </a:rPr>
              <a:t>Paleta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275320" y="5468112"/>
            <a:ext cx="164592" cy="1645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05672" y="5468112"/>
            <a:ext cx="164592" cy="16459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4" y="5468112"/>
            <a:ext cx="164592" cy="164592"/>
          </a:xfrm>
          <a:prstGeom prst="ellipse">
            <a:avLst/>
          </a:prstGeom>
          <a:solidFill>
            <a:srgbClr val="5AF5A3"/>
          </a:solidFill>
          <a:ln w="12700">
            <a:solidFill>
              <a:srgbClr val="5AF5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6376" y="5468112"/>
            <a:ext cx="164592" cy="164592"/>
          </a:xfrm>
          <a:prstGeom prst="ellipse">
            <a:avLst/>
          </a:prstGeom>
          <a:solidFill>
            <a:srgbClr val="FFB75E"/>
          </a:solidFill>
          <a:ln w="12700">
            <a:solidFill>
              <a:srgbClr val="FFB7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Baterias pós-primeira aplicação não têm um único destino.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600200"/>
            <a:ext cx="73152" cy="219456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 CENTRAL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029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</a:rPr>
              <a:t>Dados, condição, localização e demanda estão fragmentados entre agentes diferentes.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321868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54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 limitada sobre origem e condição dos ativos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85800" y="376732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703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Dificuldade de conectar quem possui bateria com quem pode reaproveitar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85800" y="431596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destinação prematura para reciclagem ou descarte inadequado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029200" cy="4343400"/>
          </a:xfrm>
          <a:prstGeom prst="roundRect">
            <a:avLst>
              <a:gd name="adj" fmla="val 1684"/>
            </a:avLst>
          </a:prstGeom>
          <a:solidFill>
            <a:srgbClr val="132C4C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Bateria pós-primeira vida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2395728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03A5A"/>
          </a:solidFill>
          <a:ln w="19050">
            <a:solidFill>
              <a:srgbClr val="4C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3536" y="2615184"/>
            <a:ext cx="128016" cy="292608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3154680"/>
            <a:ext cx="-1783080" cy="1051560"/>
          </a:xfrm>
          <a:prstGeom prst="line">
            <a:avLst/>
          </a:prstGeom>
          <a:noFill/>
          <a:ln w="16510">
            <a:solidFill>
              <a:srgbClr val="5AF5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46520" y="443484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5AF5A3">
              <a:alpha val="18000"/>
            </a:srgbClr>
          </a:solidFill>
          <a:ln w="12700">
            <a:solidFill>
              <a:srgbClr val="5AF5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459943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AF5A3"/>
                </a:solidFill>
              </a:rPr>
              <a:t>Segunda vida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869680" y="3154680"/>
            <a:ext cx="-137160" cy="1051560"/>
          </a:xfrm>
          <a:prstGeom prst="line">
            <a:avLst/>
          </a:prstGeom>
          <a:noFill/>
          <a:ln w="16510">
            <a:solidFill>
              <a:srgbClr val="4CE4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92440" y="443484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4CE4D6">
              <a:alpha val="18000"/>
            </a:srgbClr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7304" y="459943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</a:rPr>
              <a:t>Remanufatura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869680" y="3154680"/>
            <a:ext cx="1371600" cy="1051560"/>
          </a:xfrm>
          <a:prstGeom prst="line">
            <a:avLst/>
          </a:prstGeom>
          <a:noFill/>
          <a:ln w="16510">
            <a:solidFill>
              <a:srgbClr val="FFB75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443484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FB75E">
              <a:alpha val="18000"/>
            </a:srgbClr>
          </a:solidFill>
          <a:ln w="12700">
            <a:solidFill>
              <a:srgbClr val="FFB7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56064" y="459943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B75E"/>
                </a:solidFill>
              </a:rPr>
              <a:t>Reciclagem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903720" y="5440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9F5"/>
                </a:solidFill>
              </a:rPr>
              <a:t>Sem dados integrados, o melhor caminho não aparece.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agora?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eletrificação cria uma janela para preparar a circularidade antes do pico.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E4D6"/>
                </a:solidFill>
              </a:rPr>
              <a:t>1,2 mi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24128" y="26060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F5"/>
                </a:solidFill>
              </a:rPr>
              <a:t>baterias de EV podem chegar ao fim de vida em 2030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C"/>
                </a:solidFill>
              </a:rPr>
              <a:t>IEA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0D2746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E4D6"/>
                </a:solidFill>
              </a:rPr>
              <a:t>14 mi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27448" y="26060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F5"/>
                </a:solidFill>
              </a:rPr>
              <a:t>baterias de EV podem chegar ao fim de vida em 2040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C"/>
                </a:solidFill>
              </a:rPr>
              <a:t>IEA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F5A3"/>
                </a:solidFill>
              </a:rPr>
              <a:t>505 mil+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30768" y="26060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F5"/>
                </a:solidFill>
              </a:rPr>
              <a:t>veículos eletrificados plug-in já contabilizados no Brasil até mai/2026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58200" y="333756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C"/>
                </a:solidFill>
              </a:rPr>
              <a:t>ABVE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4572000"/>
            <a:ext cx="9966960" cy="0"/>
          </a:xfrm>
          <a:prstGeom prst="line">
            <a:avLst/>
          </a:prstGeom>
          <a:noFill/>
          <a:ln w="15240">
            <a:solidFill>
              <a:srgbClr val="4CE4D6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443984"/>
            <a:ext cx="256032" cy="25603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18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Hoje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C"/>
                </a:solidFill>
              </a:rPr>
              <a:t>Mercado em formação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4443984"/>
            <a:ext cx="256032" cy="25603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4818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2030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C"/>
                </a:solidFill>
              </a:rPr>
              <a:t>Primeiro grande volume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0" y="4443984"/>
            <a:ext cx="256032" cy="25603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4818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2040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8116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C"/>
                </a:solidFill>
              </a:rPr>
              <a:t>Escala crítica global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5989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7BC"/>
                </a:solidFill>
              </a:rPr>
              <a:t>Fontes: IEA Battery Circularity; ABVE.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gargalo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e demanda existem — mas não se encontram de forma eficiente.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0020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BFF"/>
                </a:solidFill>
              </a:rPr>
              <a:t>Tenho um ativo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9F5"/>
                </a:solidFill>
              </a:rPr>
              <a:t>Baterias e componentes com valor residual, mas sem visibilidade de destino.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BFF"/>
                </a:solidFill>
              </a:rPr>
              <a:t>Preciso de ativos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858000" y="2468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9F5"/>
                </a:solidFill>
              </a:rPr>
              <a:t>Recicladores, remanufaturadores e segunda vida precisam de lotes compatíveis.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15000" y="3337560"/>
            <a:ext cx="82296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687568" y="2487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FRICÇÃO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" y="3977640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4CE4D6">
              <a:alpha val="14000"/>
            </a:srgbClr>
          </a:solidFill>
          <a:ln w="10160">
            <a:solidFill>
              <a:srgbClr val="4CE4D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041648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dispersos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560320" y="3977640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4CE4D6">
              <a:alpha val="14000"/>
            </a:srgbClr>
          </a:solidFill>
          <a:ln w="10160">
            <a:solidFill>
              <a:srgbClr val="4CE4D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4041648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manual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023360" y="3977640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4CE4D6">
              <a:alpha val="14000"/>
            </a:srgbClr>
          </a:solidFill>
          <a:ln w="10160">
            <a:solidFill>
              <a:srgbClr val="4CE4D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4041648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confiança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858000" y="3977640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5AF5A3">
              <a:alpha val="14000"/>
            </a:srgbClr>
          </a:solidFill>
          <a:ln w="10160">
            <a:solidFill>
              <a:srgbClr val="5AF5A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041648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AF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oculta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321040" y="3977640"/>
            <a:ext cx="1554480" cy="301752"/>
          </a:xfrm>
          <a:prstGeom prst="roundRect">
            <a:avLst>
              <a:gd name="adj" fmla="val 15152"/>
            </a:avLst>
          </a:prstGeom>
          <a:solidFill>
            <a:srgbClr val="5AF5A3">
              <a:alpha val="14000"/>
            </a:srgbClr>
          </a:solidFill>
          <a:ln w="10160">
            <a:solidFill>
              <a:srgbClr val="5AF5A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4041648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AF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técnicos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0012680" y="3977640"/>
            <a:ext cx="1143000" cy="301752"/>
          </a:xfrm>
          <a:prstGeom prst="roundRect">
            <a:avLst>
              <a:gd name="adj" fmla="val 15152"/>
            </a:avLst>
          </a:prstGeom>
          <a:solidFill>
            <a:srgbClr val="5AF5A3">
              <a:alpha val="14000"/>
            </a:srgbClr>
          </a:solidFill>
          <a:ln w="10160">
            <a:solidFill>
              <a:srgbClr val="5AF5A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85832" y="4041648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AF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regional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143000" y="56418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BFF"/>
                </a:solidFill>
              </a:rPr>
              <a:t>CircularIA atua nessa lacuna: conexão, compatibilidade e negociação protegida.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B2B/B2C para conectar baterias ao próximo ciclo de valor.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32C4C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2536" y="1874520"/>
            <a:ext cx="713232" cy="713232"/>
          </a:xfrm>
          <a:prstGeom prst="ellipse">
            <a:avLst/>
          </a:prstGeom>
          <a:solidFill>
            <a:srgbClr val="4CE4D6">
              <a:alpha val="28000"/>
            </a:srgbClr>
          </a:solidFill>
          <a:ln w="19050">
            <a:solidFill>
              <a:srgbClr val="4C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0299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E4D6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Conectar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60704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9F5"/>
                </a:solidFill>
              </a:rPr>
              <a:t>Oferta encontra demanda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80560" y="155448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32C4C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51576" y="1874520"/>
            <a:ext cx="713232" cy="713232"/>
          </a:xfrm>
          <a:prstGeom prst="ellipse">
            <a:avLst/>
          </a:prstGeom>
          <a:solidFill>
            <a:srgbClr val="5AF5A3">
              <a:alpha val="28000"/>
            </a:srgbClr>
          </a:solidFill>
          <a:ln w="19050">
            <a:solidFill>
              <a:srgbClr val="5AF5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0299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F5A3"/>
                </a:solidFill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Otimizar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809744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9F5"/>
                </a:solidFill>
              </a:rPr>
              <a:t>Matching prioriza destinos compatíveis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132C4C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0616" y="1874520"/>
            <a:ext cx="713232" cy="713232"/>
          </a:xfrm>
          <a:prstGeom prst="ellipse">
            <a:avLst/>
          </a:prstGeom>
          <a:solidFill>
            <a:srgbClr val="FFB75E">
              <a:alpha val="28000"/>
            </a:srgbClr>
          </a:solidFill>
          <a:ln w="19050">
            <a:solidFill>
              <a:srgbClr val="FFB7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20299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75E"/>
                </a:solidFill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Aprender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558784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9F5"/>
                </a:solidFill>
              </a:rPr>
              <a:t>Dados da rede viram inteligência futura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BFF"/>
                </a:solidFill>
              </a:rPr>
              <a:t>No início, o foco é marketplace + matching. A inteligência de dados nasce depois, com histórico real.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demonstrável para o protótipo e para o vídeo.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128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E4D6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Cadastro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9F5"/>
                </a:solidFill>
              </a:rPr>
              <a:t>ativo + demanda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423160" y="3035808"/>
            <a:ext cx="384048" cy="0"/>
          </a:xfrm>
          <a:prstGeom prst="line">
            <a:avLst/>
          </a:prstGeom>
          <a:noFill/>
          <a:ln w="19050">
            <a:solidFill>
              <a:srgbClr val="4CE4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20116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22128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E4D6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36392" y="27432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Matching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9F5"/>
                </a:solidFill>
              </a:rPr>
              <a:t>ranking compatível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754880" y="3035808"/>
            <a:ext cx="384048" cy="0"/>
          </a:xfrm>
          <a:prstGeom prst="line">
            <a:avLst/>
          </a:prstGeom>
          <a:noFill/>
          <a:ln w="19050">
            <a:solidFill>
              <a:srgbClr val="4CE4D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0116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2128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E4D6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68112" y="27432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Conversa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9F5"/>
                </a:solidFill>
              </a:rPr>
              <a:t>negociação protegida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086600" y="3035808"/>
            <a:ext cx="384048" cy="0"/>
          </a:xfrm>
          <a:prstGeom prst="line">
            <a:avLst/>
          </a:prstGeom>
          <a:noFill/>
          <a:ln w="19050">
            <a:solidFill>
              <a:srgbClr val="4CE4D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20116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22128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E4D6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9832" y="27432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Fechamento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668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9F5"/>
                </a:solidFill>
              </a:rPr>
              <a:t>taxa por sucesso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418320" y="3035808"/>
            <a:ext cx="384048" cy="0"/>
          </a:xfrm>
          <a:prstGeom prst="line">
            <a:avLst/>
          </a:prstGeom>
          <a:noFill/>
          <a:ln w="19050">
            <a:solidFill>
              <a:srgbClr val="4CE4D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201168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172C3D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85248" y="22128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E4D6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31552" y="27432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Dados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9F5"/>
                </a:solidFill>
              </a:rPr>
              <a:t>base futura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85800" y="4800600"/>
            <a:ext cx="73152" cy="219456"/>
          </a:xfrm>
          <a:prstGeom prst="rect">
            <a:avLst/>
          </a:prstGeom>
          <a:solidFill>
            <a:srgbClr val="5AF5A3"/>
          </a:solidFill>
          <a:ln w="12700">
            <a:solidFill>
              <a:srgbClr val="5AF5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773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F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 NO VÍDEO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9F5"/>
                </a:solidFill>
              </a:rPr>
              <a:t>Cadastrar bateria → receber match → conversar → bloquear contato externo → proposta → acordo → dados anonimizados alimentam evolução futura.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Confiança e segurança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marketplace só funciona se a negociação permanecer segura.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73152" cy="219456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12140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57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 PF/PJ com verificação de identidade e documentação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85800" y="267004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606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CREA/CRT ou responsável técnico apenas quando aplicável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85800" y="321868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154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anonimizada até o fechamento da operação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85800" y="376732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03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IA/moderação bloqueia telefone, e-mail e contato externo no chat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85800" y="431596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Senha de transação para aceitar proposta final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492240" y="146304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Chat protegido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2331720"/>
            <a:ext cx="3337560" cy="502920"/>
          </a:xfrm>
          <a:prstGeom prst="roundRect">
            <a:avLst>
              <a:gd name="adj" fmla="val 10909"/>
            </a:avLst>
          </a:prstGeom>
          <a:solidFill>
            <a:srgbClr val="223B5C"/>
          </a:solidFill>
          <a:ln w="12700">
            <a:solidFill>
              <a:srgbClr val="223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487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9F5"/>
                </a:solidFill>
              </a:rPr>
              <a:t>Podemos falar por WhatsApp?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12280" y="3063240"/>
            <a:ext cx="4023360" cy="676656"/>
          </a:xfrm>
          <a:prstGeom prst="roundRect">
            <a:avLst>
              <a:gd name="adj" fmla="val 8108"/>
            </a:avLst>
          </a:prstGeom>
          <a:solidFill>
            <a:srgbClr val="3A1E2C"/>
          </a:solidFill>
          <a:ln w="1270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1821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D1D1"/>
                </a:solidFill>
              </a:rPr>
              <a:t>Informação de contato bloqueada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995160" y="3419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FD1D1"/>
                </a:solidFill>
              </a:rPr>
              <a:t>Dados externos são liberados somente após conclusão do acordo.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680960" y="4160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B4C62"/>
          </a:solidFill>
          <a:ln w="12700">
            <a:solidFill>
              <a:srgbClr val="1B4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3251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7FBFF"/>
                </a:solidFill>
              </a:rPr>
              <a:t>Enviar proposta dentro da plataforma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812280" y="4983480"/>
            <a:ext cx="2057400" cy="301752"/>
          </a:xfrm>
          <a:prstGeom prst="roundRect">
            <a:avLst>
              <a:gd name="adj" fmla="val 15152"/>
            </a:avLst>
          </a:prstGeom>
          <a:solidFill>
            <a:srgbClr val="4CE4D6">
              <a:alpha val="14000"/>
            </a:srgbClr>
          </a:solidFill>
          <a:ln w="10160">
            <a:solidFill>
              <a:srgbClr val="4CE4D6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5047488"/>
            <a:ext cx="1911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CE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Verificada #1842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negócio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Começamos simples: receita quando geramos valor.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4800600" cy="4251960"/>
          </a:xfrm>
          <a:prstGeom prst="roundRect">
            <a:avLst>
              <a:gd name="adj" fmla="val 1720"/>
            </a:avLst>
          </a:prstGeom>
          <a:solidFill>
            <a:srgbClr val="132C4C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00200"/>
            <a:ext cx="4800600" cy="4251960"/>
          </a:xfrm>
          <a:prstGeom prst="roundRect">
            <a:avLst>
              <a:gd name="adj" fmla="val 1720"/>
            </a:avLst>
          </a:prstGeom>
          <a:solidFill>
            <a:srgbClr val="10223E"/>
          </a:solidFill>
          <a:ln w="12700">
            <a:solidFill>
              <a:srgbClr val="204A7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965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</a:rPr>
              <a:t>MVP: Marketplace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F5A3"/>
                </a:solidFill>
              </a:rPr>
              <a:t>Entrada gratuita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12724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Cadastrar ativos e demandas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363016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566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Receber matches compatíveis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413308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4069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Negociar dentro da plataforma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480060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5AF5A3">
              <a:alpha val="18000"/>
            </a:srgbClr>
          </a:solidFill>
          <a:ln w="12700">
            <a:solidFill>
              <a:srgbClr val="5AF5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AF5A3"/>
                </a:solidFill>
              </a:rPr>
              <a:t>Receita: success fee por transação concluída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76288" y="1965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F"/>
                </a:solidFill>
              </a:rPr>
              <a:t>Futuro: CircularIA Intelligence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2606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4CE4D6"/>
                </a:solidFill>
              </a:rPr>
              <a:t>Surge após volume e qualidade de dados</a:t>
            </a:r>
            <a:endParaRPr lang="en-US" sz="1530" dirty="0"/>
          </a:p>
        </p:txBody>
      </p:sp>
      <p:sp>
        <p:nvSpPr>
          <p:cNvPr id="22" name="Shape 20"/>
          <p:cNvSpPr/>
          <p:nvPr/>
        </p:nvSpPr>
        <p:spPr>
          <a:xfrm>
            <a:off x="6903720" y="312724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Mapas, heatmaps e análises agregadas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363016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3566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Tendências de oferta e demanda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4133088"/>
            <a:ext cx="73152" cy="73152"/>
          </a:xfrm>
          <a:prstGeom prst="ellipse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4069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futura por inteligência de mercado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6172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BFF"/>
                </a:solidFill>
              </a:rPr>
              <a:t>Conectar agora → aprender com a rede → monetizar dados depois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B"/>
          </a:solidFill>
          <a:ln w="12700">
            <a:solidFill>
              <a:srgbClr val="07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CircularIA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1200000">
            <a:off x="685800" y="640080"/>
            <a:ext cx="362102" cy="362102"/>
          </a:xfrm>
          <a:prstGeom prst="arc">
            <a:avLst/>
          </a:prstGeom>
          <a:noFill/>
          <a:ln w="17780">
            <a:solidFill>
              <a:srgbClr val="4CE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935248" y="784921"/>
            <a:ext cx="96561" cy="96561"/>
          </a:xfrm>
          <a:prstGeom prst="chevron">
            <a:avLst/>
          </a:prstGeom>
          <a:solidFill>
            <a:srgbClr val="4CE4D6"/>
          </a:solidFill>
          <a:ln w="12700">
            <a:solidFill>
              <a:srgbClr val="4CE4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229" y="623987"/>
            <a:ext cx="1689811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6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CircularIA</a:t>
            </a:r>
            <a:endParaRPr lang="en-US" sz="1936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BFF"/>
                </a:solidFill>
              </a:rPr>
              <a:t>A bateria deixa o veículo, mas não deixa de ter valor.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F5"/>
                </a:solidFill>
              </a:rPr>
              <a:t>A CircularIA conecta esse ativo ao próximo ciclo da eletrificação brasileira.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E4D6"/>
                </a:solidFill>
              </a:rPr>
              <a:t>Conectar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971800" y="4050792"/>
            <a:ext cx="1097280" cy="0"/>
          </a:xfrm>
          <a:prstGeom prst="line">
            <a:avLst/>
          </a:prstGeom>
          <a:noFill/>
          <a:ln w="15240">
            <a:solidFill>
              <a:srgbClr val="8FA7B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1480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F5A3"/>
                </a:solidFill>
              </a:rPr>
              <a:t>Otimizar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80760" y="4050792"/>
            <a:ext cx="1097280" cy="0"/>
          </a:xfrm>
          <a:prstGeom prst="line">
            <a:avLst/>
          </a:prstGeom>
          <a:noFill/>
          <a:ln w="15240">
            <a:solidFill>
              <a:srgbClr val="8FA7B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17804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75E"/>
                </a:solidFill>
              </a:rPr>
              <a:t>Aprender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43400" y="516636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4CE4D6">
              <a:alpha val="14000"/>
            </a:srgbClr>
          </a:solidFill>
          <a:ln w="15240">
            <a:solidFill>
              <a:srgbClr val="4C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537667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BFF"/>
                </a:solidFill>
              </a:rPr>
              <a:t>Vamos conectar o próximo ciclo?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CircularIA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CircularIA — Pitch de Apoio</dc:title>
  <dc:subject>Material de apoio ao pitch Jump Start 2026</dc:subject>
  <dc:creator>OpenAI</dc:creator>
  <cp:lastModifiedBy>OpenAI</cp:lastModifiedBy>
  <cp:revision>1</cp:revision>
  <dcterms:created xsi:type="dcterms:W3CDTF">2026-09-25T01:38:58Z</dcterms:created>
  <dcterms:modified xsi:type="dcterms:W3CDTF">2026-09-25T01:38:58Z</dcterms:modified>
</cp:coreProperties>
</file>